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49629C-D003-4257-BD9D-ED74127B30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95E58F-7328-4EF3-A8BF-B7C0D6D005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6ABD1F-F18A-4A38-9DC4-76D9C096D8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463924-52E8-4678-B85C-F1841F74BB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E5E2CC-95D4-4B71-96FF-D60AC96688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76F902-8454-4C49-899A-B308665EA7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B23464-DA8B-4335-B762-E4A59A898E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A25FCE-C253-4093-B75D-413F7796DC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7A7CA5-CBDE-4E81-B695-D84B642A85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CF3FC-DEF6-436C-AA5C-CC8E60C30C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108EB2-1A66-4DEC-84A4-80802749F7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8138160" y="-1097280"/>
            <a:ext cx="6400440" cy="6400440"/>
          </a:xfrm>
          <a:prstGeom prst="ellipse">
            <a:avLst/>
          </a:prstGeom>
          <a:solidFill>
            <a:srgbClr val="0069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9326880" y="4389120"/>
            <a:ext cx="4571640" cy="4571640"/>
          </a:xfrm>
          <a:prstGeom prst="ellipse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1371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HepaAR</a:t>
            </a:r>
            <a:endParaRPr lang="tr-T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868680" y="251460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0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Karaciğer Nakli Hastalarına Yönelik Artırılmış Gerçeklik Destekli İlaç Uyum Uygulaması</a:t>
            </a:r>
            <a:endParaRPr lang="tr-T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68680" y="3886200"/>
            <a:ext cx="7314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Oğuzhan Erdoğan</a:t>
            </a:r>
            <a:endParaRPr lang="tr-T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215541014@firat.edu.tr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Fırat Üniversitesi · Teknoloji Fakültesi · Yazılım Mühendisliği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Yazılım Mühendisliğinde Güncel Konular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Haziran 2026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9198720" y="1152000"/>
            <a:ext cx="2082240" cy="455328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8" descr="23_ar_siroz.png"/>
          <p:cNvPicPr/>
          <p:nvPr/>
        </p:nvPicPr>
        <p:blipFill>
          <a:blip r:embed="rId1"/>
          <a:stretch/>
        </p:blipFill>
        <p:spPr>
          <a:xfrm>
            <a:off x="9235440" y="1188720"/>
            <a:ext cx="2009160" cy="448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Problem: Nakil Sonrası İlaç Uyumsuzluğu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Klinik literatür bulguları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548640" y="1554480"/>
            <a:ext cx="3565800" cy="191988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777240" y="17830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E53935"/>
                </a:solidFill>
                <a:effectLst/>
                <a:uFillTx/>
                <a:latin typeface="Segoe UI"/>
              </a:rPr>
              <a:t>%17–51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777240" y="260604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nakil hastasında immünosüpresif ilaç uyumsuzluğu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8"/>
          <p:cNvSpPr/>
          <p:nvPr/>
        </p:nvSpPr>
        <p:spPr>
          <a:xfrm>
            <a:off x="4434840" y="1554480"/>
            <a:ext cx="3565800" cy="191988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4663440" y="17830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FB300"/>
                </a:solidFill>
                <a:effectLst/>
                <a:uFillTx/>
                <a:latin typeface="Segoe UI"/>
              </a:rPr>
              <a:t>%25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4663440" y="260604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geç akut rejeksiyon, uyumsuzlukla ilişkili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1"/>
          <p:cNvSpPr/>
          <p:nvPr/>
        </p:nvSpPr>
        <p:spPr>
          <a:xfrm>
            <a:off x="8321040" y="1554480"/>
            <a:ext cx="3565800" cy="191988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8549640" y="17830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±2 saat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8549640" y="260604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klinik uyum penceresi — gecikme red riskini artırır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640080" y="3931920"/>
            <a:ext cx="10972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⚠️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Doz kaçınca ilaç kan düzeyi düşer → bağışıklık safra yollarına saldırır → organ reddi riski artar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📵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Mevcut hatırlatma uygulamaları nakil hastasının klinik bağlamını (durum, semptom, hekim) kapsamıyor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👨‍👩‍👧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Hedef kitle heterojen: pediatrik hasta, yetişkin hasta, ebeveyn/bakıcı ve hekim aynı veriye farklı pencereden bakmalı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Çözüm: HepaAR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Offline-first, AR destekli, dört modlu uyum platformu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548640" y="1371600"/>
            <a:ext cx="6949080" cy="51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💊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İlaç yönetimi: ekleme, düzenleme, arşivleme + QR doğrulama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⏰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Güvenilir hatırlatma: tam zamanlı alarm + yaklaşık-zaman fallback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🩺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Doktor modu: klinik panel, hasta dosyası, radyoloji takibi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💬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Günlük his raporu + kritik semptom uyarısı (ateş/sarılık/kusma)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📋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5 nakil ilacı için yerleşik sadeleştirilmiş prospektüs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🌐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 canlı ikiz: model, karaciğer durumuna ve uyuma göre değişir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🤗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Çocuklar için gerçek veriyle beslenen 'Bakım' oyunu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7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📴  </a:t>
            </a: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%100 çevrimdışı — Hive yerel veritabanı (6 kutu)</a:t>
            </a:r>
            <a:endParaRPr lang="tr-T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6"/>
          <p:cNvSpPr/>
          <p:nvPr/>
        </p:nvSpPr>
        <p:spPr>
          <a:xfrm>
            <a:off x="7827120" y="1289160"/>
            <a:ext cx="2328480" cy="510192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01_launch.png"/>
          <p:cNvPicPr/>
          <p:nvPr/>
        </p:nvPicPr>
        <p:blipFill>
          <a:blip r:embed="rId1"/>
          <a:stretch/>
        </p:blipFill>
        <p:spPr>
          <a:xfrm>
            <a:off x="7863840" y="1325880"/>
            <a:ext cx="225540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8"/>
          <p:cNvSpPr/>
          <p:nvPr/>
        </p:nvSpPr>
        <p:spPr>
          <a:xfrm>
            <a:off x="7863840" y="6400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Yetişkin panosu — gerçek cihaz görüntüsü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İlaç Yönetimi ve Prospektüs Kütüphanesi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Hızlı seçim · düzenleme · arşivleme · ilaç bilgilendirme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60336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6" descr="05_medlist.png"/>
          <p:cNvPicPr/>
          <p:nvPr/>
        </p:nvPicPr>
        <p:blipFill>
          <a:blip r:embed="rId1"/>
          <a:stretch/>
        </p:blipFill>
        <p:spPr>
          <a:xfrm>
            <a:off x="64008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ounded Rectangle 7"/>
          <p:cNvSpPr/>
          <p:nvPr/>
        </p:nvSpPr>
        <p:spPr>
          <a:xfrm>
            <a:off x="325512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8" descr="07_leaflet_open.png"/>
          <p:cNvPicPr/>
          <p:nvPr/>
        </p:nvPicPr>
        <p:blipFill>
          <a:blip r:embed="rId2"/>
          <a:stretch/>
        </p:blipFill>
        <p:spPr>
          <a:xfrm>
            <a:off x="329184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9"/>
          <p:cNvSpPr/>
          <p:nvPr/>
        </p:nvSpPr>
        <p:spPr>
          <a:xfrm>
            <a:off x="6126480" y="1554480"/>
            <a:ext cx="56689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⚡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Hızlı seçim: 6 yaygın immünosüpresif tek dokunuşla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✏️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Düzenleme: saat değişince eski bildirim iptal, yenisi kurulur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🗄️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Kullanımı bitir: ilaç geçmişe taşınır, hatırlatıcıları durur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📋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Prospektüs: ne işe yarar, yan etkiler, etkileşim, kaçırılan doz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🧒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Çocuk modunda sadeleştirilmiş tek kart özet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⚖️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Kalıcı feragat: 'Hekiminizin talimatı esastır'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Günlük His Raporu ve Kritik Semptom Uyarısı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Hasta bildirir → kural motoru tarar → hekim uyarılır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60336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Picture 6" descr="02_feeling_form.png"/>
          <p:cNvPicPr/>
          <p:nvPr/>
        </p:nvPicPr>
        <p:blipFill>
          <a:blip r:embed="rId1"/>
          <a:stretch/>
        </p:blipFill>
        <p:spPr>
          <a:xfrm>
            <a:off x="64008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ounded Rectangle 7"/>
          <p:cNvSpPr/>
          <p:nvPr/>
        </p:nvSpPr>
        <p:spPr>
          <a:xfrm>
            <a:off x="352944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8" descr="36_after_switch.png"/>
          <p:cNvPicPr/>
          <p:nvPr/>
        </p:nvPicPr>
        <p:blipFill>
          <a:blip r:embed="rId2"/>
          <a:stretch/>
        </p:blipFill>
        <p:spPr>
          <a:xfrm>
            <a:off x="356616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9"/>
          <p:cNvSpPr/>
          <p:nvPr/>
        </p:nvSpPr>
        <p:spPr>
          <a:xfrm>
            <a:off x="6583680" y="1554480"/>
            <a:ext cx="52117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😄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5'li emoji ruh hâli + 10 standart semptom + serbest not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📅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Günde tek kayıt — aynı gün düzenlenebilir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🚨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Ateş, sarılık, kusma → her zaman KRİTİK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🔴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Doktor panosunda kırmızı uyarı bandı: 'Hasta ile iletişime geçin'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🧒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Çocuk modunda sadeleştirilmiş semptom listesi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🗂️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Tüm raporlar hasta dosyasındaki zaman çizelgesine işlenir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0"/>
          <p:cNvSpPr/>
          <p:nvPr/>
        </p:nvSpPr>
        <p:spPr>
          <a:xfrm>
            <a:off x="640080" y="64008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Solda: rapor formu · Sağda: doktor panosunda otomatik kritik uyarı (Ateş)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 Canlı İkiz: Durum Bazlı Karaciğer Modeli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Her karaciğer durumu için önceden boyanmış GLB varyantı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5"/>
          <p:cNvSpPr/>
          <p:nvPr/>
        </p:nvSpPr>
        <p:spPr>
          <a:xfrm>
            <a:off x="603360" y="1334880"/>
            <a:ext cx="1959480" cy="427896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6" descr="23_ar_siroz.png"/>
          <p:cNvPicPr/>
          <p:nvPr/>
        </p:nvPicPr>
        <p:blipFill>
          <a:blip r:embed="rId1"/>
          <a:stretch/>
        </p:blipFill>
        <p:spPr>
          <a:xfrm>
            <a:off x="640080" y="1371600"/>
            <a:ext cx="188604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ounded Rectangle 7"/>
          <p:cNvSpPr/>
          <p:nvPr/>
        </p:nvSpPr>
        <p:spPr>
          <a:xfrm>
            <a:off x="3300840" y="1334880"/>
            <a:ext cx="1959480" cy="427896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Picture 8" descr="26_ar_tumor.png"/>
          <p:cNvPicPr/>
          <p:nvPr/>
        </p:nvPicPr>
        <p:blipFill>
          <a:blip r:embed="rId2"/>
          <a:stretch/>
        </p:blipFill>
        <p:spPr>
          <a:xfrm>
            <a:off x="3337560" y="1371600"/>
            <a:ext cx="188604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ounded Rectangle 9"/>
          <p:cNvSpPr/>
          <p:nvPr/>
        </p:nvSpPr>
        <p:spPr>
          <a:xfrm>
            <a:off x="5998320" y="1334880"/>
            <a:ext cx="1959480" cy="427896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10" descr="49_compare_healthy.png"/>
          <p:cNvPicPr/>
          <p:nvPr/>
        </p:nvPicPr>
        <p:blipFill>
          <a:blip r:embed="rId3"/>
          <a:stretch/>
        </p:blipFill>
        <p:spPr>
          <a:xfrm>
            <a:off x="6035040" y="1371600"/>
            <a:ext cx="188604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ounded Rectangle 11"/>
          <p:cNvSpPr/>
          <p:nvPr/>
        </p:nvSpPr>
        <p:spPr>
          <a:xfrm>
            <a:off x="914400" y="5715000"/>
            <a:ext cx="1462680" cy="310680"/>
          </a:xfrm>
          <a:prstGeom prst="roundRect">
            <a:avLst>
              <a:gd name="adj" fmla="val 16667"/>
            </a:avLst>
          </a:prstGeom>
          <a:solidFill>
            <a:srgbClr val="FFB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01024"/>
                </a:solidFill>
                <a:effectLst/>
                <a:uFillTx/>
                <a:latin typeface="Segoe UI"/>
              </a:rPr>
              <a:t>Siroz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2"/>
          <p:cNvSpPr/>
          <p:nvPr/>
        </p:nvSpPr>
        <p:spPr>
          <a:xfrm>
            <a:off x="3657600" y="5715000"/>
            <a:ext cx="1462680" cy="310680"/>
          </a:xfrm>
          <a:prstGeom prst="roundRect">
            <a:avLst>
              <a:gd name="adj" fmla="val 16667"/>
            </a:avLst>
          </a:prstGeom>
          <a:solidFill>
            <a:srgbClr val="E539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Tümör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3"/>
          <p:cNvSpPr/>
          <p:nvPr/>
        </p:nvSpPr>
        <p:spPr>
          <a:xfrm>
            <a:off x="6309360" y="5715000"/>
            <a:ext cx="2011320" cy="310680"/>
          </a:xfrm>
          <a:prstGeom prst="roundRect">
            <a:avLst>
              <a:gd name="adj" fmla="val 16667"/>
            </a:avLst>
          </a:prstGeom>
          <a:solidFill>
            <a:srgbClr val="43A0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Sağlıklı referans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4"/>
          <p:cNvSpPr/>
          <p:nvPr/>
        </p:nvSpPr>
        <p:spPr>
          <a:xfrm>
            <a:off x="8961120" y="1554480"/>
            <a:ext cx="30171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🎨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Renk dosyaya gömülü — 'Odanda Gör' (AR) dahil her kanalda aynı görünüm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📉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Uyum düşünce model solgunlaşır (sağlıklı/nakil sonrası)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📶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AR+ / AR rozeti: WebXR desteği çalışma zamanında algılanır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3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🛠️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Varyantlar ikili GLB yaması üreten özel araçla otomatik üretildi</a:t>
            </a:r>
            <a:endParaRPr lang="tr-T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“Neden Böyle Görünüyor?” Paneli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Canlı ikiz anlatısı: durum → uyum → risk zinciri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5"/>
          <p:cNvSpPr/>
          <p:nvPr/>
        </p:nvSpPr>
        <p:spPr>
          <a:xfrm>
            <a:off x="694800" y="1289160"/>
            <a:ext cx="2328480" cy="510192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6" descr="24_why_sheet.png"/>
          <p:cNvPicPr/>
          <p:nvPr/>
        </p:nvPicPr>
        <p:blipFill>
          <a:blip r:embed="rId1"/>
          <a:stretch/>
        </p:blipFill>
        <p:spPr>
          <a:xfrm>
            <a:off x="731520" y="1325880"/>
            <a:ext cx="225540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7"/>
          <p:cNvSpPr/>
          <p:nvPr/>
        </p:nvSpPr>
        <p:spPr>
          <a:xfrm>
            <a:off x="4023360" y="1737360"/>
            <a:ext cx="758916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🔍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Durum açıklaması: 'Sirozda doku nodüler ve fibrotik hale gelir — modeldeki mat kahverengi ton bunu temsil eder'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💊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Uyum etkisi: haftalık % ve modele yansıması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⛓️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Risk zinciri: doz kaçar → kan düzeyi düşer → bağışıklık safra yollarına saldırır → rejeksiyon riski artar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🧒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Çocuk modunda aynı içerik 'koruyucu kalkan' diliyle anlatılır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6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🎯 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Amaç: hastanın modeli 'kendi karaciğeri' olarak sahiplenmesi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Çocuk Modu: “Karaciğer Arkadaşın” Bakım Oyunu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Oyunlaştırma gerçek uyum verisinden beslenir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60336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6" descr="31_child_dash.png"/>
          <p:cNvPicPr/>
          <p:nvPr/>
        </p:nvPicPr>
        <p:blipFill>
          <a:blip r:embed="rId1"/>
          <a:stretch/>
        </p:blipFill>
        <p:spPr>
          <a:xfrm>
            <a:off x="64008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ounded Rectangle 7"/>
          <p:cNvSpPr/>
          <p:nvPr/>
        </p:nvSpPr>
        <p:spPr>
          <a:xfrm>
            <a:off x="352944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8" descr="34_care_mode.png"/>
          <p:cNvPicPr/>
          <p:nvPr/>
        </p:nvPicPr>
        <p:blipFill>
          <a:blip r:embed="rId2"/>
          <a:stretch/>
        </p:blipFill>
        <p:spPr>
          <a:xfrm>
            <a:off x="356616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ounded Rectangle 9"/>
          <p:cNvSpPr/>
          <p:nvPr/>
        </p:nvSpPr>
        <p:spPr>
          <a:xfrm>
            <a:off x="6675120" y="1554480"/>
            <a:ext cx="5028840" cy="219420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6903720" y="1737360"/>
            <a:ext cx="45716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Mutluluk Modeli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Mutluluk = 0.7 × HaftalıkUyum + 3 × SeriGün (en çok 30)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Veri yoksa nötr 50 — yeni kullanıcı 'üzgün' başlamaz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43A047"/>
                </a:solidFill>
                <a:effectLst/>
                <a:uFillTx/>
                <a:latin typeface="Segoe UI"/>
              </a:rPr>
              <a:t>Cihaz testi: %50 uyum + 0 seri → 35/100 'yorgun' 😪 ✓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6766560" y="3977640"/>
            <a:ext cx="50288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🤩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≥80 ışıl ışıl · ≥55 mutlu · ≥30 yorgun · &lt;30 üzgün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💊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'Şimdi ilacını ver' → sıradaki doz onay ekranı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✨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Yüksek mutlulukta model üstünde parıltı animasyonu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🏅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Rozet, puan ve seviye sistemiyle bütünleşik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Doktor Modu: Klinik Panel ve Hasta Dosyası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Sansürsüz klinik veri · rol korumalı rotalar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5"/>
          <p:cNvSpPr/>
          <p:nvPr/>
        </p:nvSpPr>
        <p:spPr>
          <a:xfrm>
            <a:off x="60336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6" descr="37_patient_file.png"/>
          <p:cNvPicPr/>
          <p:nvPr/>
        </p:nvPicPr>
        <p:blipFill>
          <a:blip r:embed="rId1"/>
          <a:stretch/>
        </p:blipFill>
        <p:spPr>
          <a:xfrm>
            <a:off x="64008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ounded Rectangle 7"/>
          <p:cNvSpPr/>
          <p:nvPr/>
        </p:nvSpPr>
        <p:spPr>
          <a:xfrm>
            <a:off x="352944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8" descr="48_narrate_mode.png"/>
          <p:cNvPicPr/>
          <p:nvPr/>
        </p:nvPicPr>
        <p:blipFill>
          <a:blip r:embed="rId2"/>
          <a:stretch/>
        </p:blipFill>
        <p:spPr>
          <a:xfrm>
            <a:off x="356616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9"/>
          <p:cNvSpPr/>
          <p:nvPr/>
        </p:nvSpPr>
        <p:spPr>
          <a:xfrm>
            <a:off x="6583680" y="1554480"/>
            <a:ext cx="5394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📊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Uyum metrikleri: haftalık/aylık %, seri, ortalama sapma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🗂️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Hasta dosyası: aktif ilaçlar (7 günlük uyumla), geçmiş ilaçlar (bitiş tarihli), şikayet çizelgesi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🩺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 Anlatım modu: graft yatağı, arter/porta, safra, kaval anastomoz bölgeleri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🔁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'Karşılaştır': hastanın varyantı ↔ sağlıklı referans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🔐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/doctor rotaları yalnız doktor modunda erişilebilir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Radyolojik Görüntü Takibi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Yükleme · etiketleme · trend · yan yana karşılaştırma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5"/>
          <p:cNvSpPr/>
          <p:nvPr/>
        </p:nvSpPr>
        <p:spPr>
          <a:xfrm>
            <a:off x="60336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Picture 6" descr="38_radiology.png"/>
          <p:cNvPicPr/>
          <p:nvPr/>
        </p:nvPicPr>
        <p:blipFill>
          <a:blip r:embed="rId1"/>
          <a:stretch/>
        </p:blipFill>
        <p:spPr>
          <a:xfrm>
            <a:off x="64008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Rounded Rectangle 7"/>
          <p:cNvSpPr/>
          <p:nvPr/>
        </p:nvSpPr>
        <p:spPr>
          <a:xfrm>
            <a:off x="3529440" y="1289160"/>
            <a:ext cx="2246400" cy="4919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Picture 8" descr="39_compare.png"/>
          <p:cNvPicPr/>
          <p:nvPr/>
        </p:nvPicPr>
        <p:blipFill>
          <a:blip r:embed="rId2"/>
          <a:stretch/>
        </p:blipFill>
        <p:spPr>
          <a:xfrm>
            <a:off x="3566160" y="1325880"/>
            <a:ext cx="21733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9"/>
          <p:cNvSpPr/>
          <p:nvPr/>
        </p:nvSpPr>
        <p:spPr>
          <a:xfrm>
            <a:off x="6583680" y="1554480"/>
            <a:ext cx="5394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📷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Galeri/kameradan BT·MR·USG yükleme — dosya uygulama içine kopyalanır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🏷️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Değerlendirme etiketi: iyiye gidiyor / stabil / kötüye gidiyor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📈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Trend bandı: son etiket + öncekiyle karşılaştırma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🆚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2 görüntü seçilince yan yana, yakınlaştırılabilir karşılaştırma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⚖️ 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Örnek veriler Wikimedia Commons CC BY / CC BY-SA, uygulama içi atıflı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Yazılım Mimarisi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Feature-first · offline-first · test edilebilir saf Dart motorları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5"/>
          <p:cNvSpPr/>
          <p:nvPr/>
        </p:nvSpPr>
        <p:spPr>
          <a:xfrm>
            <a:off x="731520" y="1417320"/>
            <a:ext cx="7497720" cy="914040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960120" y="147204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Flutter UI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960120" y="187452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4 mod panosu · İlaç ekranları · AR Viewer · Hasta Dosyası · Radyoloji · SUS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8"/>
          <p:cNvSpPr/>
          <p:nvPr/>
        </p:nvSpPr>
        <p:spPr>
          <a:xfrm>
            <a:off x="731520" y="2496240"/>
            <a:ext cx="7497720" cy="914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9"/>
          <p:cNvSpPr/>
          <p:nvPr/>
        </p:nvSpPr>
        <p:spPr>
          <a:xfrm>
            <a:off x="960120" y="255132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Riverpod State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960120" y="295344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medications / doseLogs / adherence / feelingReports / radiology / profile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731520" y="3575160"/>
            <a:ext cx="7497720" cy="9140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960120" y="363024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Motorlar &amp; Repositories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3"/>
          <p:cNvSpPr/>
          <p:nvPr/>
        </p:nvSpPr>
        <p:spPr>
          <a:xfrm>
            <a:off x="960120" y="403236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DoseScheduleEngine · NotificationPlanner · SymptomRules · LeafletMatcher · RadiologyTrend · CareGameRules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4"/>
          <p:cNvSpPr/>
          <p:nvPr/>
        </p:nvSpPr>
        <p:spPr>
          <a:xfrm>
            <a:off x="731520" y="4654440"/>
            <a:ext cx="7497720" cy="914040"/>
          </a:xfrm>
          <a:prstGeom prst="roundRect">
            <a:avLst>
              <a:gd name="adj" fmla="val 16667"/>
            </a:avLst>
          </a:prstGeom>
          <a:solidFill>
            <a:srgbClr val="0069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960120" y="470916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Hive Depolama (offline)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960120" y="5111640"/>
            <a:ext cx="7131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profile · medications · dose_logs · sus · feeling_reports · radiology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7"/>
          <p:cNvSpPr/>
          <p:nvPr/>
        </p:nvSpPr>
        <p:spPr>
          <a:xfrm>
            <a:off x="8595360" y="1417320"/>
            <a:ext cx="3108600" cy="416016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8"/>
          <p:cNvSpPr/>
          <p:nvPr/>
        </p:nvSpPr>
        <p:spPr>
          <a:xfrm>
            <a:off x="8823960" y="16002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Teknolojiler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9"/>
          <p:cNvSpPr/>
          <p:nvPr/>
        </p:nvSpPr>
        <p:spPr>
          <a:xfrm>
            <a:off x="8823960" y="2011680"/>
            <a:ext cx="27428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Flutter 3.32 / Dart 3.8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Riverpod 2.6 · GoRouter 14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Hive (6 kutu, offline)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model_viewer_plus (GLB/AR)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flutter_local_notifications 18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mobile_scanner · qr_flutter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·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image_picker · fl_chart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959760"/>
          </a:xfrm>
          <a:prstGeom prst="rect">
            <a:avLst/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932760"/>
            <a:ext cx="12191400" cy="4068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502920" y="146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Doğrulama ve TÜBİTAK THS-7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521280" y="6217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Gerçek cihazda, gerçek ortamda kanıtlı prototip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5"/>
          <p:cNvSpPr/>
          <p:nvPr/>
        </p:nvSpPr>
        <p:spPr>
          <a:xfrm>
            <a:off x="548640" y="1463040"/>
            <a:ext cx="2697120" cy="18284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685800" y="1645920"/>
            <a:ext cx="2422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43A047"/>
                </a:solidFill>
                <a:effectLst/>
                <a:uFillTx/>
                <a:latin typeface="Segoe UI"/>
              </a:rPr>
              <a:t>69/69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685800" y="237744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birim test başarılı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(motorlar + modeller)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3474720" y="1463040"/>
            <a:ext cx="2697120" cy="18284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3611880" y="1645920"/>
            <a:ext cx="2422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THS-7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3611880" y="2377440"/>
            <a:ext cx="2422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Samsung M33 5G üzerinde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uçtan uca cihaz turu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1"/>
          <p:cNvSpPr/>
          <p:nvPr/>
        </p:nvSpPr>
        <p:spPr>
          <a:xfrm>
            <a:off x="6400800" y="1463040"/>
            <a:ext cx="2697120" cy="18284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6537960" y="1645920"/>
            <a:ext cx="2422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FB300"/>
                </a:solidFill>
                <a:effectLst/>
                <a:uFillTx/>
                <a:latin typeface="Segoe UI"/>
              </a:rPr>
              <a:t>19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6537960" y="237744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temel fonksiyon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cihazda doğrulandı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4"/>
          <p:cNvSpPr/>
          <p:nvPr/>
        </p:nvSpPr>
        <p:spPr>
          <a:xfrm>
            <a:off x="9326880" y="1463040"/>
            <a:ext cx="2697120" cy="182844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9464040" y="1645920"/>
            <a:ext cx="2422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SUS 75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9464040" y="2377440"/>
            <a:ext cx="2422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ilk iç kullanılabilirlik skoru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('İyi' bandı)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7"/>
          <p:cNvSpPr/>
          <p:nvPr/>
        </p:nvSpPr>
        <p:spPr>
          <a:xfrm>
            <a:off x="640080" y="3657600"/>
            <a:ext cx="111553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✅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Cihaz turunda doğrulananlar: ilaç ekle/düzenle/arşivle, bildirim (exact+inexact), prospektüs, his raporu → doktor uyarısı, hasta dosyası, radyoloji + karşılaştırma, AR durum varyantları, Bakım oyunu, Anlatım modu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🔧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Cihaz testinde yakalanıp düzeltilen 2 kritik hata: exact-alarm izni yokken bildirimlerin hiç kurulmaması ve saat dilimi kayması (12:00 → 15:00)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400" b="0" u="none" strike="noStrike">
                <a:solidFill>
                  <a:srgbClr val="00BFA5"/>
                </a:solidFill>
                <a:effectLst/>
                <a:uFillTx/>
                <a:latin typeface="Segoe UI Emoji"/>
              </a:rPr>
              <a:t>📈 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THS-8 yolu: klinik pilot (10+ hasta), TITCK sınıflandırması, KVKK denetimi, Hive şifreleme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Oval 2"/>
          <p:cNvSpPr/>
          <p:nvPr/>
        </p:nvSpPr>
        <p:spPr>
          <a:xfrm>
            <a:off x="8778240" y="-1371600"/>
            <a:ext cx="6400440" cy="6400440"/>
          </a:xfrm>
          <a:prstGeom prst="ellipse">
            <a:avLst/>
          </a:prstGeom>
          <a:solidFill>
            <a:srgbClr val="0069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822960" y="18288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Teşekkürler 🙏</a:t>
            </a:r>
            <a:endParaRPr lang="tr-T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868680" y="292608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00BFA5"/>
                </a:solidFill>
                <a:effectLst/>
                <a:uFillTx/>
                <a:latin typeface="Segoe UI"/>
              </a:rPr>
              <a:t>HepaAR — ilaç uyumunu hasta, ebeveyn, çocuk ve hekim için tek platformda görünür kılar.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868680" y="4023360"/>
            <a:ext cx="7314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Oğuzhan Erdoğan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215541014@firat.edu.tr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Fırat Üniversitesi · Teknoloji Fakültesi · Yazılım Mühendisliği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B8C4D8"/>
                </a:solidFill>
                <a:effectLst/>
                <a:uFillTx/>
                <a:latin typeface="Segoe UI"/>
              </a:rPr>
              <a:t>Yazılım Mühendisliğinde Güncel Konular · Haziran 2026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6"/>
          <p:cNvSpPr/>
          <p:nvPr/>
        </p:nvSpPr>
        <p:spPr>
          <a:xfrm>
            <a:off x="9381600" y="1426320"/>
            <a:ext cx="1877400" cy="4096080"/>
          </a:xfrm>
          <a:prstGeom prst="roundRect">
            <a:avLst>
              <a:gd name="adj" fmla="val 16667"/>
            </a:avLst>
          </a:prstGeom>
          <a:solidFill>
            <a:srgbClr val="181834"/>
          </a:solidFill>
          <a:ln w="15240">
            <a:solidFill>
              <a:srgbClr val="0069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2" name="Picture 7" descr="34_care_mode.png"/>
          <p:cNvPicPr/>
          <p:nvPr/>
        </p:nvPicPr>
        <p:blipFill>
          <a:blip r:embed="rId1"/>
          <a:stretch/>
        </p:blipFill>
        <p:spPr>
          <a:xfrm>
            <a:off x="9418320" y="1463040"/>
            <a:ext cx="1803960" cy="402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tr-TR</dc:language>
  <cp:lastModifiedBy/>
  <dcterms:modified xsi:type="dcterms:W3CDTF">2026-06-10T13:34:30Z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